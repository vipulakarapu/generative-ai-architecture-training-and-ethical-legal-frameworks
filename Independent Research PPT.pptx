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8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2F17C9-13D9-4370-8178-DDA108E6B72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7DC82-565E-48C9-9FD7-EC6077255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5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“On this first Spring slide, I introduce the early generative models that came before Transformers.</a:t>
            </a:r>
            <a:br>
              <a:rPr lang="en-US" dirty="0"/>
            </a:br>
            <a:r>
              <a:rPr lang="en-US" dirty="0"/>
              <a:t>Recurrent Neural Networks, or RNNs, process text one token at a time and keep a hidden state to remember previous words, but they struggle with long‑term dependencies.</a:t>
            </a:r>
            <a:br>
              <a:rPr lang="en-US" dirty="0"/>
            </a:br>
            <a:r>
              <a:rPr lang="en-US" dirty="0"/>
              <a:t>LSTMs and GRUs improved on RNNs by adding gating mechanisms, which help the network decide what information to keep and what to forget.</a:t>
            </a:r>
            <a:br>
              <a:rPr lang="en-US" dirty="0"/>
            </a:br>
            <a:r>
              <a:rPr lang="en-US" dirty="0"/>
              <a:t>This week showed me the limits of these older sequence models and why the field needed something more scalable.”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7DC82-565E-48C9-9FD7-EC60772557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65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1E1E1-1372-DC76-9524-9175B146A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D285C-B1CC-9246-8CDB-79A4CBBAB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3C7FB-33C6-9918-DCFA-02027BF51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F153-9BC4-4037-A55B-F60FF53C934D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2A0D2-73F9-E376-4846-6551A6BAF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F4257-87B3-7455-2819-BEAF22187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B56F-F120-48A3-8A96-697F25082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94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BBD23-A1FA-6472-1B72-04FD6D16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A3748-772E-4169-4CF8-2A6B6ACD5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D1BFA-8816-8FB1-FC36-4958AB15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F153-9BC4-4037-A55B-F60FF53C934D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04CA0-3041-57D4-61BC-E40E87269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CEBAA-9031-C65C-F6EB-7A45BA57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B56F-F120-48A3-8A96-697F25082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73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21CEC-E147-53FF-1713-5A5E0F346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311EA-4AE4-880F-DEDC-B8805EDEC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33433-736B-2ED9-D3B4-B25B5671F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F153-9BC4-4037-A55B-F60FF53C934D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803B-B005-9BFB-6A9A-89DD6666E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53655-8379-506D-6608-D08380BD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B56F-F120-48A3-8A96-697F25082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543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3EEA8-A951-9640-4353-2BADE0922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0A57A-06CD-BC15-9998-137C9F2AD4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5036F-6165-26E8-41A7-41B56EF10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8772A-996B-431E-3D2A-89B7B584F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F153-9BC4-4037-A55B-F60FF53C934D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3EA70-FCDB-9937-B5FA-B69BF4E84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28675-9017-C609-E0C8-FC2DCC323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B56F-F120-48A3-8A96-697F25082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9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B1D3A-FE2A-1546-FDDF-02886104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5B476-0CA1-783D-7056-F1C6371B7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6C791-FEA2-8776-0EBD-D6C09C5C2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B8F648-F294-4CB3-D692-920DD51A5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1FC20-F040-82A7-A512-A5BA81DE2C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00BAF2-BE8E-910D-98E7-B5AFDF18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F153-9BC4-4037-A55B-F60FF53C934D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C44EB2-0F88-99F2-E58E-7C08A05B3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B17C4E-A87A-EEAC-D6D9-EE8E5D70A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B56F-F120-48A3-8A96-697F25082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2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958-619F-E2CD-EA8D-F9A1A9BD2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D640C8-1880-85AC-FF52-57FD2AB31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F153-9BC4-4037-A55B-F60FF53C934D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C9648C-2A58-751E-0193-F19A6DA2D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7B0C2-F0EB-9621-60F0-7F34421DE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B56F-F120-48A3-8A96-697F25082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36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8AC5D6-4BFC-FB01-AAED-4E590F1F2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F153-9BC4-4037-A55B-F60FF53C934D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E47772-D086-45D6-3879-2DE52D51B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186A6-A08D-C3BC-4E1C-14DC18B5B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B56F-F120-48A3-8A96-697F25082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441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57140-6623-E29D-DBE5-8785FF804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20C37-38B0-B2D7-7592-A8C8C2567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8F460-CE9A-CFEA-F993-9DC3BF367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F16F7-A40A-0A7C-D658-0C4A0493F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F153-9BC4-4037-A55B-F60FF53C934D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FEB26-3368-DEE9-F71E-41203AD2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79764-0B3C-E6E5-E3B3-0B0B2E6B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B56F-F120-48A3-8A96-697F25082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8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5B09-F32E-DC7F-57F4-6330B54D5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F373E6-46D8-F2C0-4C03-58F7E8DE17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71480-BCB0-36BD-F1D7-B0418350F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797C3-B2FE-7870-5E9E-0CF7A0AFA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F153-9BC4-4037-A55B-F60FF53C934D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3CC77-0AAE-E12A-985B-5C673D4C2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F77FF-A20B-A0F7-0508-B07E28BB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B56F-F120-48A3-8A96-697F25082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5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76CB3-ADBA-F09C-24EB-D4320A2B2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C03056-3901-9F9D-6AFF-12C2543B3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B3186-F8B8-396F-B358-CE032BCFB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F153-9BC4-4037-A55B-F60FF53C934D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3D2A0-7F34-EA7C-2E36-17C8687F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F9718-B4DF-6B8D-A809-F2720078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B56F-F120-48A3-8A96-697F25082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4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F40C46-80D5-8A5E-BCE9-17A469F2A1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B5DF01-6BA0-7C90-BF8A-A83523251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29005-B89A-83A1-0DF5-229B1277F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F153-9BC4-4037-A55B-F60FF53C934D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B1642-E403-53E0-B8F7-671F77428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0A12A-E533-C06C-3880-0A29BCA86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B56F-F120-48A3-8A96-697F25082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68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AEC1A8-2E27-E62D-67B0-B75B7568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6F067-77BD-4A0E-FEA6-B0AADBEA3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5EF67-0754-2667-758F-0F10A275C7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D6F153-9BC4-4037-A55B-F60FF53C934D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0B48A-33C9-4CD3-7CDF-9F0E3F786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70FF7-1CEF-843D-6DA5-10CC66491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0B56F-F120-48A3-8A96-697F25082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670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BB127-3D60-8D17-844C-9CD79D5AC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1841"/>
            <a:ext cx="9144000" cy="985421"/>
          </a:xfrm>
        </p:spPr>
        <p:txBody>
          <a:bodyPr>
            <a:normAutofit/>
          </a:bodyPr>
          <a:lstStyle/>
          <a:p>
            <a:r>
              <a:rPr lang="en-US" sz="4400" b="1" dirty="0"/>
              <a:t>CSE - 6950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61D64A-F67A-443A-6B6F-631DBDCD6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0835" y="1580225"/>
            <a:ext cx="9144000" cy="4421079"/>
          </a:xfrm>
        </p:spPr>
        <p:txBody>
          <a:bodyPr>
            <a:normAutofit fontScale="70000" lnSpcReduction="20000"/>
          </a:bodyPr>
          <a:lstStyle/>
          <a:p>
            <a:r>
              <a:rPr lang="en-US" sz="3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Working of ChatGPT and Ethical, Legal and Governance Frameworks of Generative AI</a:t>
            </a:r>
          </a:p>
          <a:p>
            <a:endParaRPr lang="en-US" sz="3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r>
              <a:rPr lang="en-US" sz="3600" dirty="0"/>
              <a:t>Graduate Independent Study</a:t>
            </a:r>
          </a:p>
          <a:p>
            <a:endParaRPr lang="en-US" sz="3600" dirty="0"/>
          </a:p>
          <a:p>
            <a:r>
              <a:rPr lang="en-US" sz="3600" dirty="0"/>
              <a:t>Satya Vipul Akarapu</a:t>
            </a:r>
          </a:p>
          <a:p>
            <a:endParaRPr lang="en-US" sz="3600" dirty="0"/>
          </a:p>
          <a:p>
            <a:r>
              <a:rPr lang="en-US" sz="3600" dirty="0"/>
              <a:t>ID: 008396499</a:t>
            </a:r>
          </a:p>
          <a:p>
            <a:endParaRPr lang="en-US" sz="3600" dirty="0"/>
          </a:p>
          <a:p>
            <a:r>
              <a:rPr lang="en-US" sz="3600" dirty="0"/>
              <a:t>Advisor: Dr. Yan Zhang</a:t>
            </a:r>
          </a:p>
        </p:txBody>
      </p:sp>
    </p:spTree>
    <p:extLst>
      <p:ext uri="{BB962C8B-B14F-4D97-AF65-F5344CB8AC3E}">
        <p14:creationId xmlns:p14="http://schemas.microsoft.com/office/powerpoint/2010/main" val="1870327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A8F3C-1A91-5052-A673-D91D89E24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Independent Study Overview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99932-8DC7-F280-67D1-DA6CD1C6D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Goal</a:t>
            </a:r>
            <a:r>
              <a:rPr lang="en-US" sz="2400" dirty="0"/>
              <a:t>: understand how generative AI works technically and how to use it responsibly in the real world.</a:t>
            </a:r>
          </a:p>
          <a:p>
            <a:endParaRPr lang="en-US" sz="2400" dirty="0"/>
          </a:p>
          <a:p>
            <a:r>
              <a:rPr lang="en-US" sz="2400" b="1" dirty="0"/>
              <a:t>Spring 2025</a:t>
            </a:r>
            <a:r>
              <a:rPr lang="en-US" sz="2400" dirty="0"/>
              <a:t>: focused on the model side - evolution from RNNs to Transformers, pre‑training, fine‑tuning, RLHF, and deployment.</a:t>
            </a:r>
          </a:p>
          <a:p>
            <a:endParaRPr lang="en-US" sz="2400" dirty="0"/>
          </a:p>
          <a:p>
            <a:r>
              <a:rPr lang="en-US" sz="2400" b="1" dirty="0"/>
              <a:t>Fall 2025</a:t>
            </a:r>
            <a:r>
              <a:rPr lang="en-US" sz="2400" dirty="0"/>
              <a:t>: focused on the human side - law, ethics, governance, bias, transparency, and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2767058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2DDD3-E58A-E403-05FC-486C793A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Early Generative Models: RNNs, LSTMs &amp; GRUs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64E49-DAB1-CF47-E5D0-35852EBC6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Goal: </a:t>
            </a:r>
            <a:r>
              <a:rPr lang="en-US" sz="2400" dirty="0"/>
              <a:t>review classic sequence models that paved the way for modern generative AI.</a:t>
            </a:r>
          </a:p>
          <a:p>
            <a:r>
              <a:rPr lang="en-US" sz="2400" b="1" dirty="0"/>
              <a:t>RNNs:</a:t>
            </a:r>
            <a:r>
              <a:rPr lang="en-US" sz="2400" dirty="0"/>
              <a:t> maintain a hidden state to process sequences, but suffer from vanishing gradients and poor long‑term memory.</a:t>
            </a:r>
          </a:p>
          <a:p>
            <a:r>
              <a:rPr lang="en-US" sz="2400" b="1" dirty="0"/>
              <a:t>LSTMs:</a:t>
            </a:r>
            <a:r>
              <a:rPr lang="en-US" sz="2400" dirty="0"/>
              <a:t> add input, output, and forget gates + cell state to capture long‑range dependencies.</a:t>
            </a:r>
          </a:p>
          <a:p>
            <a:r>
              <a:rPr lang="en-US" sz="2400" b="1" dirty="0"/>
              <a:t>GRUs:</a:t>
            </a:r>
            <a:r>
              <a:rPr lang="en-US" sz="2400" dirty="0"/>
              <a:t> simplified LSTMs (reset &amp; update gates) that are faster while still solving vanishing‑gradient issues.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930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1E7FB-2ED9-13A9-7FAB-79BB25C4D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From RNNs to Transformers &amp; Modern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53BE7-4F81-4FC8-40AE-2307BC88D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Transition from recurrent models to Transformer architectures that use self‑attention instead of recurrence.</a:t>
            </a:r>
          </a:p>
          <a:p>
            <a:r>
              <a:rPr lang="en-US" sz="2400" b="1" dirty="0"/>
              <a:t>Key ideas: </a:t>
            </a:r>
            <a:r>
              <a:rPr lang="en-US" sz="2400" dirty="0"/>
              <a:t>encoder–decoder design, self‑attention, and positional encoding for order information.</a:t>
            </a:r>
          </a:p>
          <a:p>
            <a:r>
              <a:rPr lang="en-US" sz="2400" b="1" dirty="0"/>
              <a:t>GANs: </a:t>
            </a:r>
            <a:r>
              <a:rPr lang="en-US" sz="2400" dirty="0"/>
              <a:t>generator vs. discriminator in an adversarial game → high‑quality synthetic images but training can be unstable</a:t>
            </a:r>
          </a:p>
          <a:p>
            <a:r>
              <a:rPr lang="en-US" sz="2400" b="1" dirty="0"/>
              <a:t>Diffusion models</a:t>
            </a:r>
            <a:r>
              <a:rPr lang="en-US" sz="2400" dirty="0"/>
              <a:t> (e.g., DALL‑E, Stable Diffusion) emerge as more stable, high‑fidelity alternatives for image generation.</a:t>
            </a:r>
          </a:p>
        </p:txBody>
      </p:sp>
    </p:spTree>
    <p:extLst>
      <p:ext uri="{BB962C8B-B14F-4D97-AF65-F5344CB8AC3E}">
        <p14:creationId xmlns:p14="http://schemas.microsoft.com/office/powerpoint/2010/main" val="1066775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1DEB7-0387-A1B9-6C52-799B9ED97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BERT: Bidirectional Transformers for Language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0A7B0-9B33-D497-4FEB-A9804F23E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Focus on </a:t>
            </a:r>
            <a:r>
              <a:rPr lang="en-US" sz="2400" b="1" dirty="0"/>
              <a:t>BERT</a:t>
            </a:r>
            <a:r>
              <a:rPr lang="en-US" sz="2400" dirty="0"/>
              <a:t> as a bidirectional, encoder‑only Transformer for deep language understanding.</a:t>
            </a:r>
          </a:p>
          <a:p>
            <a:r>
              <a:rPr lang="en-US" sz="2400" dirty="0"/>
              <a:t>Bidirectional self‑attention reads both left and right context → strong performance on QA, NLI, etc.</a:t>
            </a:r>
          </a:p>
          <a:p>
            <a:r>
              <a:rPr lang="en-US" sz="2400" dirty="0"/>
              <a:t>Training objectives:</a:t>
            </a:r>
          </a:p>
          <a:p>
            <a:r>
              <a:rPr lang="en-US" sz="2400" b="1" dirty="0"/>
              <a:t>Masked Language Modeling (MLM)</a:t>
            </a:r>
            <a:r>
              <a:rPr lang="en-US" sz="2400" dirty="0"/>
              <a:t> – predict randomly masked tokens.</a:t>
            </a:r>
          </a:p>
          <a:p>
            <a:r>
              <a:rPr lang="en-US" sz="2400" b="1" dirty="0"/>
              <a:t>Next Sentence Prediction (NSP)</a:t>
            </a:r>
            <a:r>
              <a:rPr lang="en-US" sz="2400" dirty="0"/>
              <a:t> – learn relationships between sentence pairs.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499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0B06-CE6B-7066-1ABE-D99CBDB88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Attention, Tokenization &amp; Text‑to‑Text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19D16-E07A-9261-E44F-BC5808AC7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Attention mechanism:</a:t>
            </a:r>
            <a:r>
              <a:rPr lang="en-US" sz="2400" dirty="0"/>
              <a:t> lets the model focus on the most relevant tokens instead of treating all words equally.</a:t>
            </a:r>
          </a:p>
          <a:p>
            <a:r>
              <a:rPr lang="en-US" sz="2400" b="1" dirty="0"/>
              <a:t>Self‑ attention</a:t>
            </a:r>
            <a:r>
              <a:rPr lang="en-US" sz="2400" dirty="0"/>
              <a:t> uses Query, Key, Value matrices so each token attends to all others, capturing long‑range dependencies.</a:t>
            </a:r>
          </a:p>
          <a:p>
            <a:r>
              <a:rPr lang="en-US" sz="2400" dirty="0"/>
              <a:t>Tokenization evolution: from word‑level to </a:t>
            </a:r>
            <a:r>
              <a:rPr lang="en-US" sz="2400" b="1" dirty="0"/>
              <a:t>sub‑word methods</a:t>
            </a:r>
            <a:r>
              <a:rPr lang="en-US" sz="2400" dirty="0"/>
              <a:t> (WordPiece/BPE) to balance vocabulary size and OOV handling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227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3367-C095-834F-491E-E4B2CA2AB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Pre‑training Large 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D02D9-BB2F-85B6-41B3-9CCC81619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Objective: learn broad linguistic representations from massive unlabeled corpora before task‑specific tuning.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Pre‑processing pipeline: collection → cleaning &amp; deduplication → toxicity filtering → tokenization (WordPiece/BPE).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439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A7042-A775-2D45-25B0-05906605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Fine‑tuning for Downstream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4D539-DFB7-6899-4C17-D5E71E11E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Fine‑tuning:</a:t>
            </a:r>
            <a:r>
              <a:rPr lang="en-US" sz="2400" dirty="0"/>
              <a:t> adapt a pre‑trained model to a specific task using a smaller labeled dataset → better performance with less compute.</a:t>
            </a:r>
          </a:p>
          <a:p>
            <a:endParaRPr lang="en-US" sz="2400" dirty="0"/>
          </a:p>
          <a:p>
            <a:r>
              <a:rPr lang="en-US" sz="2400" b="1" dirty="0"/>
              <a:t>Workflow</a:t>
            </a:r>
            <a:r>
              <a:rPr lang="en-US" sz="2400" dirty="0"/>
              <a:t>: load pre‑trained model (e.g., via </a:t>
            </a:r>
            <a:r>
              <a:rPr lang="en-US" sz="2400" dirty="0" err="1"/>
              <a:t>HuggingFace</a:t>
            </a:r>
            <a:r>
              <a:rPr lang="en-US" sz="2400" dirty="0"/>
              <a:t>) → tokenize data → set hyperparameters → train (Trainer API) → evaluate.</a:t>
            </a:r>
          </a:p>
          <a:p>
            <a:endParaRPr lang="en-US" sz="2400" dirty="0"/>
          </a:p>
          <a:p>
            <a:r>
              <a:rPr lang="en-US" sz="2400" b="1" dirty="0"/>
              <a:t>Challenges</a:t>
            </a:r>
            <a:r>
              <a:rPr lang="en-US" sz="2400" dirty="0"/>
              <a:t>: overfitting on small data, catastrophic forgetting, and sensitivity to learning rate/batch size</a:t>
            </a:r>
          </a:p>
        </p:txBody>
      </p:sp>
    </p:spTree>
    <p:extLst>
      <p:ext uri="{BB962C8B-B14F-4D97-AF65-F5344CB8AC3E}">
        <p14:creationId xmlns:p14="http://schemas.microsoft.com/office/powerpoint/2010/main" val="2234118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CC6B2-7D63-8867-9F2B-B571056DC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RLHF: Workflow &amp;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EEDE3-0127-9E03-F453-1C0723534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Reinforcement Learning with Human Feedback (RLHF):</a:t>
            </a:r>
            <a:r>
              <a:rPr lang="en-US" sz="2400" dirty="0"/>
              <a:t> uses human preference rankings as the reward signal to guide model behavior.</a:t>
            </a:r>
          </a:p>
          <a:p>
            <a:r>
              <a:rPr lang="en-US" sz="2400" dirty="0"/>
              <a:t>RL fine‑tuning optimizes the model to maximize predicted human satisfaction.</a:t>
            </a:r>
            <a:endParaRPr lang="en-US" sz="2400" b="1" dirty="0"/>
          </a:p>
          <a:p>
            <a:r>
              <a:rPr lang="en-US" sz="2400" b="1" dirty="0"/>
              <a:t>Applications</a:t>
            </a:r>
            <a:r>
              <a:rPr lang="en-US" sz="2400" dirty="0"/>
              <a:t>: conversational AI (ChatGPT, Claude, Gemini), safer content generation, and content moderation.</a:t>
            </a:r>
          </a:p>
          <a:p>
            <a:r>
              <a:rPr lang="en-US" sz="2400" b="1" dirty="0"/>
              <a:t>Benefits</a:t>
            </a:r>
            <a:r>
              <a:rPr lang="en-US" sz="2400" dirty="0"/>
              <a:t>: reduces harmful/toxic outputs, improves coherence, and makes responses more aligned with user expectations</a:t>
            </a:r>
          </a:p>
        </p:txBody>
      </p:sp>
    </p:spTree>
    <p:extLst>
      <p:ext uri="{BB962C8B-B14F-4D97-AF65-F5344CB8AC3E}">
        <p14:creationId xmlns:p14="http://schemas.microsoft.com/office/powerpoint/2010/main" val="4064464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C3324-EF18-B2E0-7DF8-70DA8721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AI Alignment &amp; Challenges of RLHF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FB29B-508B-3226-594C-59157B26F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Goal</a:t>
            </a:r>
            <a:r>
              <a:rPr lang="en-US" sz="2400" dirty="0"/>
              <a:t>: align AI systems with human goals, ethical standards, and safety constraints</a:t>
            </a:r>
          </a:p>
          <a:p>
            <a:r>
              <a:rPr lang="en-US" sz="2400" b="1" dirty="0"/>
              <a:t>Ethical risks</a:t>
            </a:r>
            <a:r>
              <a:rPr lang="en-US" sz="2400" dirty="0"/>
              <a:t>: human raters bring bias; “desirable” behavior is subjective and culturally dependent</a:t>
            </a:r>
          </a:p>
          <a:p>
            <a:r>
              <a:rPr lang="en-US" sz="2400" b="1" dirty="0"/>
              <a:t>Reward hacking:</a:t>
            </a:r>
            <a:r>
              <a:rPr lang="en-US" sz="2400" dirty="0"/>
              <a:t> models may learn to please annotators rather than improve accuracy or reasoning</a:t>
            </a:r>
          </a:p>
          <a:p>
            <a:r>
              <a:rPr lang="en-US" sz="2400" b="1" dirty="0"/>
              <a:t>Practical issues</a:t>
            </a:r>
            <a:r>
              <a:rPr lang="en-US" sz="2400" dirty="0"/>
              <a:t>: high cost of human feedback, inconsistent preferences, and reward overfitting that leads to generic or overly safe replies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744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D39D8-58BE-3A03-B7AD-182C97118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Inference Optimization for Deployed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B13D2-5D79-3F83-48C6-015A0B3C4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Focus</a:t>
            </a:r>
            <a:r>
              <a:rPr lang="en-US" sz="2400" dirty="0"/>
              <a:t>: make inference fast, cheap, and responsive in real‑time systems.</a:t>
            </a:r>
          </a:p>
          <a:p>
            <a:endParaRPr lang="en-US" sz="2400" dirty="0"/>
          </a:p>
          <a:p>
            <a:r>
              <a:rPr lang="en-US" sz="2400" b="1" dirty="0"/>
              <a:t>Objectives</a:t>
            </a:r>
            <a:r>
              <a:rPr lang="en-US" sz="2400" dirty="0"/>
              <a:t>: lower latency, reduce compute costs, and enable high‑throughput serving for millions of users.</a:t>
            </a:r>
          </a:p>
          <a:p>
            <a:endParaRPr lang="en-US" sz="2400" dirty="0"/>
          </a:p>
          <a:p>
            <a:r>
              <a:rPr lang="en-US" sz="2400" b="1" dirty="0"/>
              <a:t>Trade‑offs</a:t>
            </a:r>
            <a:r>
              <a:rPr lang="en-US" sz="2400" dirty="0"/>
              <a:t>: smaller or quantized models can lose accuracy; caching must handle privacy and freshness.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57961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9BFA8-7B4C-B447-E342-E644E92CF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Scalability &amp; User Interaction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AAF21-3D9C-E547-97FF-264770E52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Scalability:</a:t>
            </a:r>
            <a:r>
              <a:rPr lang="en-US" sz="2400" dirty="0"/>
              <a:t> ability of the system to handle more users and requests without performance degradation.</a:t>
            </a:r>
          </a:p>
          <a:p>
            <a:endParaRPr lang="en-US" sz="2400" dirty="0"/>
          </a:p>
          <a:p>
            <a:r>
              <a:rPr lang="en-US" sz="2400" dirty="0"/>
              <a:t>Good UI/UX is as important as the model: bad interfaces can ruin user experience even with a strong model.</a:t>
            </a:r>
          </a:p>
          <a:p>
            <a:endParaRPr lang="en-US" sz="2400" dirty="0"/>
          </a:p>
          <a:p>
            <a:r>
              <a:rPr lang="en-US" sz="2400" dirty="0"/>
              <a:t>Feedback loops from users drive continuous model improvement and safety refinement.</a:t>
            </a:r>
          </a:p>
        </p:txBody>
      </p:sp>
    </p:spTree>
    <p:extLst>
      <p:ext uri="{BB962C8B-B14F-4D97-AF65-F5344CB8AC3E}">
        <p14:creationId xmlns:p14="http://schemas.microsoft.com/office/powerpoint/2010/main" val="1510682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1005E-EF2C-D35C-C787-EA6B64C40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Legal &amp; Ethical Dimensions of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1BAD2-5418-8A3F-23A5-C2D4EC91A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Examines how tools like ChatGPT, DALL·E, Claude raise </a:t>
            </a:r>
            <a:r>
              <a:rPr lang="en-US" sz="2400" b="1" dirty="0"/>
              <a:t>copyright, privacy, liability, and authorship</a:t>
            </a:r>
            <a:r>
              <a:rPr lang="en-US" sz="2400" dirty="0"/>
              <a:t> questions.</a:t>
            </a:r>
          </a:p>
          <a:p>
            <a:endParaRPr lang="en-US" sz="2400" dirty="0"/>
          </a:p>
          <a:p>
            <a:r>
              <a:rPr lang="en-US" sz="2400" b="1" dirty="0"/>
              <a:t>Data privacy</a:t>
            </a:r>
            <a:r>
              <a:rPr lang="en-US" sz="2400" dirty="0"/>
              <a:t>: risk of personal/sensitive information appearing in training data or outputs.</a:t>
            </a:r>
          </a:p>
          <a:p>
            <a:endParaRPr lang="en-US" sz="2400" dirty="0"/>
          </a:p>
          <a:p>
            <a:r>
              <a:rPr lang="en-US" sz="2400" b="1" dirty="0"/>
              <a:t>Liability &amp; ownership</a:t>
            </a:r>
            <a:r>
              <a:rPr lang="en-US" sz="2400" dirty="0"/>
              <a:t>: who is responsible when AI causes harm, and who owns AI‑generated content?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074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BB980-34F6-EA22-8EC2-CAF486E3A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Global AI Governance &amp;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83C80-1249-3453-DEAF-CF0830894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Survey of emerging frameworks: </a:t>
            </a:r>
            <a:r>
              <a:rPr lang="en-US" sz="2400" b="1" dirty="0"/>
              <a:t>EU AI Act, US AI Bill of Rights, UNESCO AI Ethics Recommendation, OECD AI Principles.</a:t>
            </a:r>
          </a:p>
          <a:p>
            <a:endParaRPr lang="en-US" sz="2400" b="1" dirty="0"/>
          </a:p>
          <a:p>
            <a:r>
              <a:rPr lang="en-US" sz="2400" b="1" dirty="0"/>
              <a:t>UNESCO AI Ethics:</a:t>
            </a:r>
            <a:r>
              <a:rPr lang="en-US" sz="2400" dirty="0"/>
              <a:t> emphasizes human rights, dignity, safety, fairness, inclusion, environmental sustainability, and human‑in‑the‑loop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3774011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AB68C-7A37-C6E1-5B09-FCF6CD9D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Legal Accountability Foundations in Generative 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82430-7ECD-5298-C898-D4B4E66AD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Focus</a:t>
            </a:r>
            <a:r>
              <a:rPr lang="en-US" sz="2400" dirty="0"/>
              <a:t>: how rapid adoption of tools like ChatGPT, Claude, and Gemini outpaces clear legal rules.</a:t>
            </a:r>
          </a:p>
          <a:p>
            <a:r>
              <a:rPr lang="en-US" sz="2400" dirty="0"/>
              <a:t>Generative AI can cause harm, but the </a:t>
            </a:r>
            <a:r>
              <a:rPr lang="en-US" sz="2400" i="1" dirty="0"/>
              <a:t>model</a:t>
            </a:r>
            <a:r>
              <a:rPr lang="en-US" sz="2400" dirty="0"/>
              <a:t> itself cannot be sued</a:t>
            </a:r>
          </a:p>
          <a:p>
            <a:r>
              <a:rPr lang="en-US" sz="2400" dirty="0"/>
              <a:t>Responsibility falls on people and organizations: developers, deployers, and users.</a:t>
            </a:r>
          </a:p>
          <a:p>
            <a:r>
              <a:rPr lang="en-US" sz="2400" dirty="0"/>
              <a:t>Existing laws (copyright, privacy, liability) are being stretched to cover AI behavior.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79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F3C02-9CDC-5C7A-036B-A2289DA42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 Cases and Legal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CBFB3-EFA7-F657-4D4F-143B35963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Lawsuits like </a:t>
            </a:r>
            <a:r>
              <a:rPr lang="en-US" sz="2400" i="1" dirty="0"/>
              <a:t>New York Times v. OpenAI</a:t>
            </a:r>
            <a:r>
              <a:rPr lang="en-US" sz="2400" dirty="0"/>
              <a:t> question using copyrighted data to train models.</a:t>
            </a:r>
          </a:p>
          <a:p>
            <a:endParaRPr lang="en-US" sz="2400" dirty="0"/>
          </a:p>
          <a:p>
            <a:r>
              <a:rPr lang="en-US" sz="2400" dirty="0"/>
              <a:t>Privacy regulators (e.g., in Italy) have fined AI firms for misusing personal data.</a:t>
            </a:r>
          </a:p>
          <a:p>
            <a:endParaRPr lang="en-US" sz="2400" dirty="0"/>
          </a:p>
          <a:p>
            <a:r>
              <a:rPr lang="en-US" sz="2400" dirty="0"/>
              <a:t>Defamation cases show how hard it is to assign blame when an AI “hallucinates” false facts.</a:t>
            </a:r>
          </a:p>
        </p:txBody>
      </p:sp>
    </p:spTree>
    <p:extLst>
      <p:ext uri="{BB962C8B-B14F-4D97-AF65-F5344CB8AC3E}">
        <p14:creationId xmlns:p14="http://schemas.microsoft.com/office/powerpoint/2010/main" val="741539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C1D31-D122-F8BB-9FA9-02A820A14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Terms of Use and Disclaimers Matter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B40DDF-658C-415C-757C-A5DAB06342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1975"/>
            <a:ext cx="1024113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Every major AI tool is wrapped in Terms of Use and Disclaimers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They define what users can/cannot do and warn that answers may be wrong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These documents turn AI use into a contract that helps manage legal risk.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164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FEF2C-B240-4436-199E-3045BDCE2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Comparing Major AI Providers’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CCF64-8579-AFE8-5D56-08A171082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OpenAI, Anthropic, and Google all say users are responsible for how they use outputs.</a:t>
            </a:r>
          </a:p>
          <a:p>
            <a:endParaRPr lang="en-US" sz="2400" dirty="0"/>
          </a:p>
          <a:p>
            <a:r>
              <a:rPr lang="en-US" sz="2400" dirty="0"/>
              <a:t>Clauses limit company liability and ban harmful or illegal uses.</a:t>
            </a:r>
          </a:p>
          <a:p>
            <a:endParaRPr lang="en-US" sz="2400" dirty="0"/>
          </a:p>
          <a:p>
            <a:r>
              <a:rPr lang="en-US" sz="2400" dirty="0"/>
              <a:t>There are also rules about IP ownership and “no professional legal/medical advice.”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281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63FB0-3EDA-EEA8-7AF3-BD0D51D6F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Ethical Governance of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17C58-65AA-9D1A-81A0-B1B27D32E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Ethical governance means building AI that respects human rights, fairness, and safety.</a:t>
            </a:r>
          </a:p>
          <a:p>
            <a:endParaRPr lang="en-US" sz="2400" dirty="0"/>
          </a:p>
          <a:p>
            <a:r>
              <a:rPr lang="en-US" sz="2400" dirty="0"/>
              <a:t>It covers the whole lifecycle: data collection, training, deployment, and monitoring.</a:t>
            </a:r>
          </a:p>
          <a:p>
            <a:endParaRPr lang="en-US" sz="2400" dirty="0"/>
          </a:p>
          <a:p>
            <a:r>
              <a:rPr lang="en-US" sz="2400" dirty="0"/>
              <a:t>Key ideas: transparency, accountability, fairness, human oversight, and privacy</a:t>
            </a:r>
          </a:p>
        </p:txBody>
      </p:sp>
    </p:spTree>
    <p:extLst>
      <p:ext uri="{BB962C8B-B14F-4D97-AF65-F5344CB8AC3E}">
        <p14:creationId xmlns:p14="http://schemas.microsoft.com/office/powerpoint/2010/main" val="929209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13DA9-5BBA-B92F-6BF9-C954CE8C4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Companies and Regulators Do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BCD1-4ABC-FE17-FBB9-F707D816A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Companies like OpenAI, Anthropic, Google DeepMind, and Meta have ethics teams and boards.</a:t>
            </a:r>
          </a:p>
          <a:p>
            <a:endParaRPr lang="en-US" sz="2400" dirty="0"/>
          </a:p>
          <a:p>
            <a:r>
              <a:rPr lang="en-US" sz="2400" dirty="0"/>
              <a:t>Global frameworks (EU AI Act, OECD, UNESCO, NIST) set high‑level rules and principles.</a:t>
            </a:r>
          </a:p>
          <a:p>
            <a:endParaRPr lang="en-US" sz="2400" dirty="0"/>
          </a:p>
          <a:p>
            <a:r>
              <a:rPr lang="en-US" sz="2400" dirty="0"/>
              <a:t>In practice, enforcement is uneven and sometimes conflicts with business goals.</a:t>
            </a:r>
          </a:p>
        </p:txBody>
      </p:sp>
    </p:spTree>
    <p:extLst>
      <p:ext uri="{BB962C8B-B14F-4D97-AF65-F5344CB8AC3E}">
        <p14:creationId xmlns:p14="http://schemas.microsoft.com/office/powerpoint/2010/main" val="3706085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E4DEE-6148-5BB8-01AF-35CD4890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Bias and Fairness in Large 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37753-5A46-A0CF-EB3F-F00AE663D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Bias can come from training data, model design, or human feedback.</a:t>
            </a:r>
          </a:p>
          <a:p>
            <a:endParaRPr lang="en-US" sz="2400" dirty="0"/>
          </a:p>
          <a:p>
            <a:r>
              <a:rPr lang="en-US" sz="2400" dirty="0"/>
              <a:t>It shows up as stereotypes, under‑representation, or unfair treatment of groups.</a:t>
            </a:r>
          </a:p>
          <a:p>
            <a:endParaRPr lang="en-US" sz="2400" dirty="0"/>
          </a:p>
          <a:p>
            <a:r>
              <a:rPr lang="en-US" sz="2400" dirty="0"/>
              <a:t>Fairness audits are used to detect and reduce these biased patterns.</a:t>
            </a:r>
          </a:p>
        </p:txBody>
      </p:sp>
    </p:spTree>
    <p:extLst>
      <p:ext uri="{BB962C8B-B14F-4D97-AF65-F5344CB8AC3E}">
        <p14:creationId xmlns:p14="http://schemas.microsoft.com/office/powerpoint/2010/main" val="24700081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33AB2-7019-7CE1-ABD2-F3ABFE359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Bias Audits Work (and Their Limits)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6C6B4-73DD-ECB4-B4A1-C1C3E3FED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Common tools</a:t>
            </a:r>
            <a:r>
              <a:rPr lang="en-US" sz="2400" dirty="0"/>
              <a:t>: checking dataset balance, counterfactual prompts, human review, and stress tests.</a:t>
            </a:r>
          </a:p>
          <a:p>
            <a:endParaRPr lang="en-US" sz="2400" dirty="0"/>
          </a:p>
          <a:p>
            <a:r>
              <a:rPr lang="en-US" sz="2400" dirty="0"/>
              <a:t>Real issues include gender roles, language inequality, and political tilt in answers</a:t>
            </a:r>
          </a:p>
          <a:p>
            <a:endParaRPr lang="en-US" sz="2400" dirty="0"/>
          </a:p>
          <a:p>
            <a:r>
              <a:rPr lang="en-US" sz="2400" b="1" dirty="0"/>
              <a:t>Challenges</a:t>
            </a:r>
            <a:r>
              <a:rPr lang="en-US" sz="2400" dirty="0"/>
              <a:t>: changing models, Western‑centric benchmarks, and trade‑offs between fairness and accuracy.</a:t>
            </a:r>
          </a:p>
        </p:txBody>
      </p:sp>
    </p:spTree>
    <p:extLst>
      <p:ext uri="{BB962C8B-B14F-4D97-AF65-F5344CB8AC3E}">
        <p14:creationId xmlns:p14="http://schemas.microsoft.com/office/powerpoint/2010/main" val="84987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624F-0242-E27B-C4E5-C41D1A516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Transparency and Explainability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49087-4C9C-D508-2A70-DB96868EC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Full transparency is hard because models are huge and data sources are partly secret</a:t>
            </a:r>
          </a:p>
          <a:p>
            <a:endParaRPr lang="en-US" sz="2400" dirty="0"/>
          </a:p>
          <a:p>
            <a:r>
              <a:rPr lang="en-US" sz="2400" dirty="0"/>
              <a:t>Companies use system cards, documentation, and policy pages to explain model behavior.</a:t>
            </a:r>
          </a:p>
          <a:p>
            <a:endParaRPr lang="en-US" sz="2400" dirty="0"/>
          </a:p>
          <a:p>
            <a:r>
              <a:rPr lang="en-US" sz="2400" dirty="0"/>
              <a:t>Explainability tools (like token importance or reasoning summaries) help users see </a:t>
            </a:r>
            <a:r>
              <a:rPr lang="en-US" sz="2400" i="1" dirty="0"/>
              <a:t>why</a:t>
            </a:r>
            <a:r>
              <a:rPr lang="en-US" sz="2400" dirty="0"/>
              <a:t> an answer was given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56793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3BC5E-5053-1AF7-AD2F-C17671526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Accountability, User Contracts, and Trust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1B8F9-AD06-BF19-F193-69769816E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Accountability asks who is responsible when AI is misused or makes mistakes.</a:t>
            </a:r>
          </a:p>
          <a:p>
            <a:endParaRPr lang="en-US" sz="2400" dirty="0"/>
          </a:p>
          <a:p>
            <a:r>
              <a:rPr lang="en-US" sz="2400" dirty="0"/>
              <a:t>Usage policies, logging, and compliance with laws (GDPR, CCPA, EU AI Act, NIST RMF) are key tools.</a:t>
            </a:r>
          </a:p>
          <a:p>
            <a:endParaRPr lang="en-US" sz="2400" dirty="0"/>
          </a:p>
          <a:p>
            <a:r>
              <a:rPr lang="en-US" sz="2400" dirty="0"/>
              <a:t>Clear communication and good documentation help avoid over‑trust and confusion about blame</a:t>
            </a:r>
          </a:p>
        </p:txBody>
      </p:sp>
    </p:spTree>
    <p:extLst>
      <p:ext uri="{BB962C8B-B14F-4D97-AF65-F5344CB8AC3E}">
        <p14:creationId xmlns:p14="http://schemas.microsoft.com/office/powerpoint/2010/main" val="13713543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A850B-CBF0-C56D-DC53-8C3E3B4E0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Basics of Global AI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34AB6-608C-CB2C-6013-0DBA0527B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AI governance = rules and processes for building and using AI safely</a:t>
            </a:r>
          </a:p>
          <a:p>
            <a:endParaRPr lang="en-US" sz="2400" dirty="0"/>
          </a:p>
          <a:p>
            <a:r>
              <a:rPr lang="en-US" sz="2400" dirty="0"/>
              <a:t>The EU AI Act uses a risk‑based law with strict rules for high‑risk systems.</a:t>
            </a:r>
          </a:p>
          <a:p>
            <a:endParaRPr lang="en-US" sz="2400" dirty="0"/>
          </a:p>
          <a:p>
            <a:r>
              <a:rPr lang="en-US" sz="2400" dirty="0"/>
              <a:t>The US and UK rely more on sector rules and flexible principles guided by existing regulators</a:t>
            </a:r>
          </a:p>
        </p:txBody>
      </p:sp>
    </p:spTree>
    <p:extLst>
      <p:ext uri="{BB962C8B-B14F-4D97-AF65-F5344CB8AC3E}">
        <p14:creationId xmlns:p14="http://schemas.microsoft.com/office/powerpoint/2010/main" val="17930590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671AF-DD8C-8696-EE41-46C53300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Role of International Bodies and Impact on Companies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B4BA0-3D8F-64DC-34BE-2526A5E7B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OECD and UNESCO give global ethical principles but are not binding laws.</a:t>
            </a:r>
          </a:p>
          <a:p>
            <a:endParaRPr lang="en-US" sz="2400" dirty="0"/>
          </a:p>
          <a:p>
            <a:r>
              <a:rPr lang="en-US" sz="2400" dirty="0"/>
              <a:t>Companies must now do risk assessments, safety testing, and transparency reporting.</a:t>
            </a:r>
          </a:p>
          <a:p>
            <a:endParaRPr lang="en-US" sz="2400" dirty="0"/>
          </a:p>
          <a:p>
            <a:r>
              <a:rPr lang="en-US" sz="2400" b="1" dirty="0"/>
              <a:t>Goal</a:t>
            </a:r>
            <a:r>
              <a:rPr lang="en-US" sz="2400" dirty="0"/>
              <a:t>: protect people (privacy, fairness, safety) while still allowing innovation</a:t>
            </a:r>
          </a:p>
        </p:txBody>
      </p:sp>
    </p:spTree>
    <p:extLst>
      <p:ext uri="{BB962C8B-B14F-4D97-AF65-F5344CB8AC3E}">
        <p14:creationId xmlns:p14="http://schemas.microsoft.com/office/powerpoint/2010/main" val="3365786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6BC5A-144E-C3F7-9CBF-FE66285E2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We Learned About AI Accountability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998B2-3FFB-145C-1AF2-72C6302DD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Today’s accountability tools include safety teams, audits, user policies, and legal rules</a:t>
            </a:r>
          </a:p>
          <a:p>
            <a:endParaRPr lang="en-US" sz="2400" dirty="0"/>
          </a:p>
          <a:p>
            <a:r>
              <a:rPr lang="en-US" sz="2400" dirty="0"/>
              <a:t>But practice still varies a lot between countries and companies.</a:t>
            </a:r>
          </a:p>
          <a:p>
            <a:endParaRPr lang="en-US" sz="2400" dirty="0"/>
          </a:p>
          <a:p>
            <a:r>
              <a:rPr lang="en-US" sz="2400" b="1" dirty="0"/>
              <a:t>Big lessons</a:t>
            </a:r>
            <a:r>
              <a:rPr lang="en-US" sz="2400" dirty="0"/>
              <a:t>: laws change fast, accountability is shared, and transparency alone is not enough</a:t>
            </a:r>
          </a:p>
        </p:txBody>
      </p:sp>
    </p:spTree>
    <p:extLst>
      <p:ext uri="{BB962C8B-B14F-4D97-AF65-F5344CB8AC3E}">
        <p14:creationId xmlns:p14="http://schemas.microsoft.com/office/powerpoint/2010/main" val="12461100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45D2B-1090-DE8E-B5B6-595C250DC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Open Questions and 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6CFC5-A1A7-B479-8E0C-FC8BCA54D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Open questions</a:t>
            </a:r>
            <a:r>
              <a:rPr lang="en-US" sz="2400" dirty="0"/>
              <a:t>: who pays when AI causes harm, how transparent models should be, and whether AI outputs must be labeled.</a:t>
            </a:r>
          </a:p>
          <a:p>
            <a:endParaRPr lang="en-US" sz="2400" dirty="0"/>
          </a:p>
          <a:p>
            <a:r>
              <a:rPr lang="en-US" sz="2400" b="1" dirty="0"/>
              <a:t>Future trends</a:t>
            </a:r>
            <a:r>
              <a:rPr lang="en-US" sz="2400" dirty="0"/>
              <a:t>: stronger global standards, better audits, and improved explainability tools.</a:t>
            </a:r>
          </a:p>
          <a:p>
            <a:endParaRPr lang="en-US" sz="2400" dirty="0"/>
          </a:p>
          <a:p>
            <a:r>
              <a:rPr lang="en-US" sz="2400" dirty="0"/>
              <a:t>Accountability is an ongoing process that must grow as AI systems evolve.</a:t>
            </a:r>
          </a:p>
        </p:txBody>
      </p:sp>
    </p:spTree>
    <p:extLst>
      <p:ext uri="{BB962C8B-B14F-4D97-AF65-F5344CB8AC3E}">
        <p14:creationId xmlns:p14="http://schemas.microsoft.com/office/powerpoint/2010/main" val="9919470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A0199-210E-3E34-E7F5-A5695D4DC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Big Takeaways &amp; What I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36F2A-FF6B-E3C8-709F-811C7B7EB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Generative AI is powerful but fragile: training data and model design directly affect bias, safety, and reliability.</a:t>
            </a:r>
          </a:p>
          <a:p>
            <a:endParaRPr lang="en-US" sz="2400" dirty="0"/>
          </a:p>
          <a:p>
            <a:r>
              <a:rPr lang="en-US" sz="2400" dirty="0"/>
              <a:t>Accountability is shared by developers, companies, regulators, and users all carry part of the responsibility; laws are still catching up.</a:t>
            </a:r>
          </a:p>
          <a:p>
            <a:endParaRPr lang="en-US" sz="2400" dirty="0"/>
          </a:p>
          <a:p>
            <a:r>
              <a:rPr lang="en-US" sz="2400" dirty="0"/>
              <a:t>Good AI governance needs both technical tools (fairness audits, transparency, RLHF, safety checks) and strong legal/ethical frameworks</a:t>
            </a:r>
          </a:p>
        </p:txBody>
      </p:sp>
    </p:spTree>
    <p:extLst>
      <p:ext uri="{BB962C8B-B14F-4D97-AF65-F5344CB8AC3E}">
        <p14:creationId xmlns:p14="http://schemas.microsoft.com/office/powerpoint/2010/main" val="2578816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1882</Words>
  <Application>Microsoft Office PowerPoint</Application>
  <PresentationFormat>Widescreen</PresentationFormat>
  <Paragraphs>177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Times New Roman</vt:lpstr>
      <vt:lpstr>Office Theme</vt:lpstr>
      <vt:lpstr>CSE - 6950</vt:lpstr>
      <vt:lpstr>Independent Study Overview </vt:lpstr>
      <vt:lpstr>Early Generative Models: RNNs, LSTMs &amp; GRUs</vt:lpstr>
      <vt:lpstr>From RNNs to Transformers &amp; Modern Generative AI</vt:lpstr>
      <vt:lpstr>BERT: Bidirectional Transformers for Language Understanding</vt:lpstr>
      <vt:lpstr>Attention, Tokenization &amp; Text‑to‑Text </vt:lpstr>
      <vt:lpstr>Pre‑training Large Language Models</vt:lpstr>
      <vt:lpstr>Fine‑tuning for Downstream Tasks</vt:lpstr>
      <vt:lpstr>RLHF: Workflow &amp; Benefits</vt:lpstr>
      <vt:lpstr>AI Alignment &amp; Challenges of RLHF</vt:lpstr>
      <vt:lpstr>Inference Optimization for Deployed LLMs</vt:lpstr>
      <vt:lpstr>Scalability &amp; User Interaction Design</vt:lpstr>
      <vt:lpstr>Legal &amp; Ethical Dimensions of Generative AI</vt:lpstr>
      <vt:lpstr>Global AI Governance &amp; Frameworks</vt:lpstr>
      <vt:lpstr>Legal Accountability Foundations in Generative AI</vt:lpstr>
      <vt:lpstr>Real Cases and Legal Challenges</vt:lpstr>
      <vt:lpstr>Why Terms of Use and Disclaimers Matter</vt:lpstr>
      <vt:lpstr>Comparing Major AI Providers’ Terms</vt:lpstr>
      <vt:lpstr>What Is Ethical Governance of AI?</vt:lpstr>
      <vt:lpstr>How Companies and Regulators Do Governance</vt:lpstr>
      <vt:lpstr>Bias and Fairness in Large Language Models</vt:lpstr>
      <vt:lpstr>How Bias Audits Work (and Their Limits)</vt:lpstr>
      <vt:lpstr>Transparency and Explainability in AI</vt:lpstr>
      <vt:lpstr>Accountability, User Contracts, and Trust</vt:lpstr>
      <vt:lpstr>Basics of Global AI Governance</vt:lpstr>
      <vt:lpstr>Role of International Bodies and Impact on Companies</vt:lpstr>
      <vt:lpstr>What We Learned About AI Accountability</vt:lpstr>
      <vt:lpstr>Open Questions and Future Directions</vt:lpstr>
      <vt:lpstr>Big Takeaways &amp; What I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Verma</dc:creator>
  <cp:lastModifiedBy>Satya Vipul Akarapu</cp:lastModifiedBy>
  <cp:revision>1</cp:revision>
  <dcterms:created xsi:type="dcterms:W3CDTF">2025-12-04T05:05:18Z</dcterms:created>
  <dcterms:modified xsi:type="dcterms:W3CDTF">2026-10-08T19:34:08Z</dcterms:modified>
</cp:coreProperties>
</file>